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mo" charset="1" panose="020B0604020202020204"/>
      <p:regular r:id="rId19"/>
    </p:embeddedFont>
    <p:embeddedFont>
      <p:font typeface="Arimo Bold" charset="1" panose="020B0704020202020204"/>
      <p:regular r:id="rId20"/>
    </p:embeddedFont>
    <p:embeddedFont>
      <p:font typeface="Arimo Italics" charset="1" panose="020B06040202020902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notesSlides/notesSlide9.xml" Type="http://schemas.openxmlformats.org/officeDocument/2006/relationships/notesSlide"/><Relationship Id="rId29" Target="notesSlides/notesSlide10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3.png" Type="http://schemas.openxmlformats.org/officeDocument/2006/relationships/image"/><Relationship Id="rId4" Target="../media/image1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CE6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9122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1025966"/>
            <a:ext cx="16315868" cy="5384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60"/>
              </a:lnSpc>
            </a:pPr>
            <a:r>
              <a:rPr lang="en-US" sz="116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AWS – Employee Onboarding Management System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991" y="6922646"/>
            <a:ext cx="798024" cy="409451"/>
            <a:chOff x="0" y="0"/>
            <a:chExt cx="1064031" cy="54593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4006" cy="545973"/>
            </a:xfrm>
            <a:custGeom>
              <a:avLst/>
              <a:gdLst/>
              <a:ahLst/>
              <a:cxnLst/>
              <a:rect r="r" b="b" t="t" l="l"/>
              <a:pathLst>
                <a:path h="545973" w="1064006">
                  <a:moveTo>
                    <a:pt x="0" y="258826"/>
                  </a:moveTo>
                  <a:cubicBezTo>
                    <a:pt x="0" y="115824"/>
                    <a:pt x="115824" y="0"/>
                    <a:pt x="258826" y="0"/>
                  </a:cubicBezTo>
                  <a:lnTo>
                    <a:pt x="805307" y="0"/>
                  </a:lnTo>
                  <a:cubicBezTo>
                    <a:pt x="948182" y="0"/>
                    <a:pt x="1064006" y="115824"/>
                    <a:pt x="1064006" y="258826"/>
                  </a:cubicBezTo>
                  <a:lnTo>
                    <a:pt x="1064006" y="287147"/>
                  </a:lnTo>
                  <a:cubicBezTo>
                    <a:pt x="1064006" y="430022"/>
                    <a:pt x="948182" y="545973"/>
                    <a:pt x="805180" y="545973"/>
                  </a:cubicBezTo>
                  <a:lnTo>
                    <a:pt x="258826" y="545973"/>
                  </a:lnTo>
                  <a:cubicBezTo>
                    <a:pt x="115824" y="545973"/>
                    <a:pt x="0" y="430022"/>
                    <a:pt x="0" y="28714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54592" y="6984321"/>
            <a:ext cx="1389917" cy="267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2"/>
              </a:lnSpc>
            </a:pPr>
            <a:r>
              <a:rPr lang="en-US" sz="165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AWS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920888" y="6917874"/>
            <a:ext cx="1643863" cy="418976"/>
            <a:chOff x="0" y="0"/>
            <a:chExt cx="2191817" cy="55863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1766" cy="558673"/>
            </a:xfrm>
            <a:custGeom>
              <a:avLst/>
              <a:gdLst/>
              <a:ahLst/>
              <a:cxnLst/>
              <a:rect r="r" b="b" t="t" l="l"/>
              <a:pathLst>
                <a:path h="558673" w="2191766">
                  <a:moveTo>
                    <a:pt x="0" y="264795"/>
                  </a:moveTo>
                  <a:cubicBezTo>
                    <a:pt x="0" y="118618"/>
                    <a:pt x="118618" y="0"/>
                    <a:pt x="264795" y="0"/>
                  </a:cubicBezTo>
                  <a:lnTo>
                    <a:pt x="1926971" y="0"/>
                  </a:lnTo>
                  <a:cubicBezTo>
                    <a:pt x="2073275" y="0"/>
                    <a:pt x="2191766" y="118618"/>
                    <a:pt x="2191766" y="264795"/>
                  </a:cubicBezTo>
                  <a:lnTo>
                    <a:pt x="2191766" y="293878"/>
                  </a:lnTo>
                  <a:cubicBezTo>
                    <a:pt x="2191766" y="440182"/>
                    <a:pt x="2073148" y="558673"/>
                    <a:pt x="1926971" y="558673"/>
                  </a:cubicBezTo>
                  <a:lnTo>
                    <a:pt x="264795" y="558673"/>
                  </a:lnTo>
                  <a:cubicBezTo>
                    <a:pt x="118618" y="558673"/>
                    <a:pt x="0" y="440055"/>
                    <a:pt x="0" y="293878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448" r="-2" b="-26441"/>
              </a:stretch>
            </a:blipFill>
            <a:ln w="9532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2087261" y="6984321"/>
            <a:ext cx="2226221" cy="267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2"/>
              </a:lnSpc>
            </a:pPr>
            <a:r>
              <a:rPr lang="en-US" sz="165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SERVERLESS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991" y="7601102"/>
            <a:ext cx="16315868" cy="1620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3"/>
              </a:lnSpc>
            </a:pPr>
            <a:r>
              <a:rPr lang="en-US" sz="210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 Serverless Web Application Using Amazon Web Services (AWS)</a:t>
            </a:r>
          </a:p>
          <a:p>
            <a:pPr algn="l">
              <a:lnSpc>
                <a:spcPts val="2673"/>
              </a:lnSpc>
            </a:pPr>
            <a:r>
              <a:rPr lang="en-US" sz="2101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Submitted By:</a:t>
            </a:r>
            <a:r>
              <a:rPr lang="en-US" sz="2101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 Venna Jeeshitha</a:t>
            </a:r>
          </a:p>
          <a:p>
            <a:pPr algn="l">
              <a:lnSpc>
                <a:spcPts val="2673"/>
              </a:lnSpc>
            </a:pPr>
            <a:r>
              <a:rPr lang="en-US" sz="2101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Under the Guidance of:</a:t>
            </a:r>
            <a:r>
              <a:rPr lang="en-US" sz="2101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 Mrs Bethala Sumana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CE6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9122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991" y="1975895"/>
            <a:ext cx="975265" cy="431044"/>
            <a:chOff x="0" y="0"/>
            <a:chExt cx="1300353" cy="5747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00353" cy="574802"/>
            </a:xfrm>
            <a:custGeom>
              <a:avLst/>
              <a:gdLst/>
              <a:ahLst/>
              <a:cxnLst/>
              <a:rect r="r" b="b" t="t" l="l"/>
              <a:pathLst>
                <a:path h="574802" w="1300353">
                  <a:moveTo>
                    <a:pt x="0" y="272415"/>
                  </a:moveTo>
                  <a:cubicBezTo>
                    <a:pt x="0" y="121920"/>
                    <a:pt x="121920" y="0"/>
                    <a:pt x="272415" y="0"/>
                  </a:cubicBezTo>
                  <a:lnTo>
                    <a:pt x="1027938" y="0"/>
                  </a:lnTo>
                  <a:cubicBezTo>
                    <a:pt x="1178433" y="0"/>
                    <a:pt x="1300353" y="121920"/>
                    <a:pt x="1300353" y="272415"/>
                  </a:cubicBezTo>
                  <a:lnTo>
                    <a:pt x="1300353" y="302387"/>
                  </a:lnTo>
                  <a:cubicBezTo>
                    <a:pt x="1300353" y="452882"/>
                    <a:pt x="1178433" y="574802"/>
                    <a:pt x="1027938" y="574802"/>
                  </a:cubicBezTo>
                  <a:lnTo>
                    <a:pt x="272415" y="574802"/>
                  </a:lnTo>
                  <a:cubicBezTo>
                    <a:pt x="121920" y="574675"/>
                    <a:pt x="0" y="452755"/>
                    <a:pt x="0" y="302387"/>
                  </a:cubicBezTo>
                  <a:close/>
                </a:path>
              </a:pathLst>
            </a:custGeom>
            <a:solidFill>
              <a:srgbClr val="0B1B42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63231" y="2051418"/>
            <a:ext cx="1549879" cy="270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8"/>
              </a:lnSpc>
            </a:pPr>
            <a:r>
              <a:rPr lang="en-US" sz="1726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TEAM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991" y="2501389"/>
            <a:ext cx="16315868" cy="95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95"/>
              </a:lnSpc>
            </a:pPr>
            <a:r>
              <a:rPr lang="en-US" sz="6079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Team Member Details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88219" y="3877475"/>
            <a:ext cx="16325393" cy="4446289"/>
            <a:chOff x="0" y="0"/>
            <a:chExt cx="21767190" cy="592838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767164" cy="5928360"/>
            </a:xfrm>
            <a:custGeom>
              <a:avLst/>
              <a:gdLst/>
              <a:ahLst/>
              <a:cxnLst/>
              <a:rect r="r" b="b" t="t" l="l"/>
              <a:pathLst>
                <a:path h="5928360" w="21767164">
                  <a:moveTo>
                    <a:pt x="0" y="341249"/>
                  </a:moveTo>
                  <a:cubicBezTo>
                    <a:pt x="0" y="152781"/>
                    <a:pt x="152781" y="0"/>
                    <a:pt x="341249" y="0"/>
                  </a:cubicBezTo>
                  <a:lnTo>
                    <a:pt x="21425915" y="0"/>
                  </a:lnTo>
                  <a:cubicBezTo>
                    <a:pt x="21614383" y="0"/>
                    <a:pt x="21767164" y="152781"/>
                    <a:pt x="21767164" y="341249"/>
                  </a:cubicBezTo>
                  <a:lnTo>
                    <a:pt x="21767164" y="5587111"/>
                  </a:lnTo>
                  <a:cubicBezTo>
                    <a:pt x="21767164" y="5775579"/>
                    <a:pt x="21614383" y="5928360"/>
                    <a:pt x="21425915" y="5928360"/>
                  </a:cubicBezTo>
                  <a:lnTo>
                    <a:pt x="341249" y="5928360"/>
                  </a:lnTo>
                  <a:cubicBezTo>
                    <a:pt x="152781" y="5928360"/>
                    <a:pt x="0" y="5775579"/>
                    <a:pt x="0" y="5587111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43" r="0" b="-21543"/>
              </a:stretch>
            </a:blipFill>
            <a:ln w="9532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92991" y="4624873"/>
            <a:ext cx="16315868" cy="17736"/>
            <a:chOff x="0" y="0"/>
            <a:chExt cx="21754490" cy="2364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754464" cy="23622"/>
            </a:xfrm>
            <a:custGeom>
              <a:avLst/>
              <a:gdLst/>
              <a:ahLst/>
              <a:cxnLst/>
              <a:rect r="r" b="b" t="t" l="l"/>
              <a:pathLst>
                <a:path h="23622" w="21754464">
                  <a:moveTo>
                    <a:pt x="0" y="0"/>
                  </a:moveTo>
                  <a:lnTo>
                    <a:pt x="21754464" y="0"/>
                  </a:lnTo>
                  <a:lnTo>
                    <a:pt x="21754464" y="23622"/>
                  </a:lnTo>
                  <a:lnTo>
                    <a:pt x="0" y="23622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92991" y="5362746"/>
            <a:ext cx="16315868" cy="17736"/>
            <a:chOff x="0" y="0"/>
            <a:chExt cx="21754490" cy="2364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754464" cy="23622"/>
            </a:xfrm>
            <a:custGeom>
              <a:avLst/>
              <a:gdLst/>
              <a:ahLst/>
              <a:cxnLst/>
              <a:rect r="r" b="b" t="t" l="l"/>
              <a:pathLst>
                <a:path h="23622" w="21754464">
                  <a:moveTo>
                    <a:pt x="0" y="0"/>
                  </a:moveTo>
                  <a:lnTo>
                    <a:pt x="21754464" y="0"/>
                  </a:lnTo>
                  <a:lnTo>
                    <a:pt x="21754464" y="23622"/>
                  </a:lnTo>
                  <a:lnTo>
                    <a:pt x="0" y="23622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92991" y="6100620"/>
            <a:ext cx="16315868" cy="17736"/>
            <a:chOff x="0" y="0"/>
            <a:chExt cx="21754490" cy="2364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754464" cy="23622"/>
            </a:xfrm>
            <a:custGeom>
              <a:avLst/>
              <a:gdLst/>
              <a:ahLst/>
              <a:cxnLst/>
              <a:rect r="r" b="b" t="t" l="l"/>
              <a:pathLst>
                <a:path h="23622" w="21754464">
                  <a:moveTo>
                    <a:pt x="0" y="0"/>
                  </a:moveTo>
                  <a:lnTo>
                    <a:pt x="21754464" y="0"/>
                  </a:lnTo>
                  <a:lnTo>
                    <a:pt x="21754464" y="23622"/>
                  </a:lnTo>
                  <a:lnTo>
                    <a:pt x="0" y="23622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92991" y="6838483"/>
            <a:ext cx="16315868" cy="17736"/>
            <a:chOff x="0" y="0"/>
            <a:chExt cx="21754490" cy="2364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754464" cy="23622"/>
            </a:xfrm>
            <a:custGeom>
              <a:avLst/>
              <a:gdLst/>
              <a:ahLst/>
              <a:cxnLst/>
              <a:rect r="r" b="b" t="t" l="l"/>
              <a:pathLst>
                <a:path h="23622" w="21754464">
                  <a:moveTo>
                    <a:pt x="0" y="0"/>
                  </a:moveTo>
                  <a:lnTo>
                    <a:pt x="21754464" y="0"/>
                  </a:lnTo>
                  <a:lnTo>
                    <a:pt x="21754464" y="23622"/>
                  </a:lnTo>
                  <a:lnTo>
                    <a:pt x="0" y="23622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2991" y="7576356"/>
            <a:ext cx="16315868" cy="17736"/>
            <a:chOff x="0" y="0"/>
            <a:chExt cx="21754490" cy="2364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754464" cy="23622"/>
            </a:xfrm>
            <a:custGeom>
              <a:avLst/>
              <a:gdLst/>
              <a:ahLst/>
              <a:cxnLst/>
              <a:rect r="r" b="b" t="t" l="l"/>
              <a:pathLst>
                <a:path h="23622" w="21754464">
                  <a:moveTo>
                    <a:pt x="0" y="0"/>
                  </a:moveTo>
                  <a:lnTo>
                    <a:pt x="21754464" y="0"/>
                  </a:lnTo>
                  <a:lnTo>
                    <a:pt x="21754464" y="23622"/>
                  </a:lnTo>
                  <a:lnTo>
                    <a:pt x="0" y="23622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86399" y="4033447"/>
            <a:ext cx="9855108" cy="40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 b="true">
                <a:solidFill>
                  <a:srgbClr val="DCE6F8"/>
                </a:solidFill>
                <a:latin typeface="Arimo Bold"/>
                <a:ea typeface="Arimo Bold"/>
                <a:cs typeface="Arimo Bold"/>
                <a:sym typeface="Arimo Bold"/>
              </a:rPr>
              <a:t>Name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793882" y="4033447"/>
            <a:ext cx="7136797" cy="40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 b="true">
                <a:solidFill>
                  <a:srgbClr val="DCE6F8"/>
                </a:solidFill>
                <a:latin typeface="Arimo Bold"/>
                <a:ea typeface="Arimo Bold"/>
                <a:cs typeface="Arimo Bold"/>
                <a:sym typeface="Arimo Bold"/>
              </a:rPr>
              <a:t>Roll Number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86399" y="4771320"/>
            <a:ext cx="9855108" cy="40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Venna Jeeshitha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793882" y="4771320"/>
            <a:ext cx="7136797" cy="40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23BQ1A12E9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86399" y="5509184"/>
            <a:ext cx="9855108" cy="40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Tanniru Anjali Devi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793882" y="5509184"/>
            <a:ext cx="7136797" cy="40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23BQ1A12C8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86399" y="6247057"/>
            <a:ext cx="9855108" cy="40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Kambala Srivani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793882" y="6247057"/>
            <a:ext cx="7136797" cy="40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23BQ1A1245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86399" y="6984930"/>
            <a:ext cx="9855108" cy="40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Kotapati NavyaSri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793882" y="6984930"/>
            <a:ext cx="7136797" cy="40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23BQ1A5477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86399" y="7722803"/>
            <a:ext cx="9855108" cy="40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Durgam Guru Harini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793882" y="7722803"/>
            <a:ext cx="7136797" cy="40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23BQ5A1220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CE6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9122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991" y="1925555"/>
            <a:ext cx="1517561" cy="431044"/>
            <a:chOff x="0" y="0"/>
            <a:chExt cx="2023415" cy="5747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23491" cy="574802"/>
            </a:xfrm>
            <a:custGeom>
              <a:avLst/>
              <a:gdLst/>
              <a:ahLst/>
              <a:cxnLst/>
              <a:rect r="r" b="b" t="t" l="l"/>
              <a:pathLst>
                <a:path h="574802" w="2023491">
                  <a:moveTo>
                    <a:pt x="0" y="272415"/>
                  </a:moveTo>
                  <a:cubicBezTo>
                    <a:pt x="0" y="121920"/>
                    <a:pt x="121920" y="0"/>
                    <a:pt x="272415" y="0"/>
                  </a:cubicBezTo>
                  <a:lnTo>
                    <a:pt x="1751076" y="0"/>
                  </a:lnTo>
                  <a:cubicBezTo>
                    <a:pt x="1901571" y="0"/>
                    <a:pt x="2023491" y="121920"/>
                    <a:pt x="2023491" y="272415"/>
                  </a:cubicBezTo>
                  <a:lnTo>
                    <a:pt x="2023491" y="302387"/>
                  </a:lnTo>
                  <a:cubicBezTo>
                    <a:pt x="2023491" y="452882"/>
                    <a:pt x="1901571" y="574802"/>
                    <a:pt x="1751076" y="574802"/>
                  </a:cubicBezTo>
                  <a:lnTo>
                    <a:pt x="272415" y="574802"/>
                  </a:lnTo>
                  <a:cubicBezTo>
                    <a:pt x="121920" y="574675"/>
                    <a:pt x="0" y="452755"/>
                    <a:pt x="0" y="302387"/>
                  </a:cubicBezTo>
                  <a:close/>
                </a:path>
              </a:pathLst>
            </a:custGeom>
            <a:solidFill>
              <a:srgbClr val="0B1B42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63231" y="2001079"/>
            <a:ext cx="2092166" cy="270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8"/>
              </a:lnSpc>
            </a:pPr>
            <a:r>
              <a:rPr lang="en-US" sz="1726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OVERVIEW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991" y="2451049"/>
            <a:ext cx="16315868" cy="95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95"/>
              </a:lnSpc>
            </a:pPr>
            <a:r>
              <a:rPr lang="en-US" sz="6079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Project Overview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991" y="3793798"/>
            <a:ext cx="16315868" cy="146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This is a cloud-based Employee Onboarding Management System that automates the employee onboarding process using AWS Serverless Architecture.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991" y="5917578"/>
            <a:ext cx="5202203" cy="487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Secure Management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991" y="6537055"/>
            <a:ext cx="5202203" cy="1144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HR Administrator Login, Employee Registration &amp; Management, and centralized employee records.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54862" y="5576630"/>
            <a:ext cx="5278460" cy="76257"/>
            <a:chOff x="0" y="0"/>
            <a:chExt cx="7037946" cy="10167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037959" cy="101727"/>
            </a:xfrm>
            <a:custGeom>
              <a:avLst/>
              <a:gdLst/>
              <a:ahLst/>
              <a:cxnLst/>
              <a:rect r="r" b="b" t="t" l="l"/>
              <a:pathLst>
                <a:path h="101727" w="7037959">
                  <a:moveTo>
                    <a:pt x="0" y="0"/>
                  </a:moveTo>
                  <a:lnTo>
                    <a:pt x="7037959" y="0"/>
                  </a:lnTo>
                  <a:lnTo>
                    <a:pt x="7037959" y="101727"/>
                  </a:lnTo>
                  <a:lnTo>
                    <a:pt x="0" y="101727"/>
                  </a:lnTo>
                  <a:close/>
                </a:path>
              </a:pathLst>
            </a:custGeom>
            <a:solidFill>
              <a:srgbClr val="4674E1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549819" y="5917578"/>
            <a:ext cx="5202203" cy="487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Document &amp; Tracking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49819" y="6537055"/>
            <a:ext cx="5202203" cy="1144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Employee Document Upload, Onboarding Progress Tracking, and Report Generation.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511690" y="5576630"/>
            <a:ext cx="5278460" cy="76257"/>
            <a:chOff x="0" y="0"/>
            <a:chExt cx="7037946" cy="10167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037959" cy="101727"/>
            </a:xfrm>
            <a:custGeom>
              <a:avLst/>
              <a:gdLst/>
              <a:ahLst/>
              <a:cxnLst/>
              <a:rect r="r" b="b" t="t" l="l"/>
              <a:pathLst>
                <a:path h="101727" w="7037959">
                  <a:moveTo>
                    <a:pt x="0" y="0"/>
                  </a:moveTo>
                  <a:lnTo>
                    <a:pt x="7037959" y="0"/>
                  </a:lnTo>
                  <a:lnTo>
                    <a:pt x="7037959" y="101727"/>
                  </a:lnTo>
                  <a:lnTo>
                    <a:pt x="0" y="101727"/>
                  </a:lnTo>
                  <a:close/>
                </a:path>
              </a:pathLst>
            </a:custGeom>
            <a:solidFill>
              <a:srgbClr val="8FADEB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106646" y="5917578"/>
            <a:ext cx="5202203" cy="487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Cloud Deployment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106646" y="6537055"/>
            <a:ext cx="5202203" cy="1144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Automated Email Notifications and scalable Cloud-Based Deployment on AWS.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068518" y="5576630"/>
            <a:ext cx="5278460" cy="76257"/>
            <a:chOff x="0" y="0"/>
            <a:chExt cx="7037946" cy="10167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037959" cy="101727"/>
            </a:xfrm>
            <a:custGeom>
              <a:avLst/>
              <a:gdLst/>
              <a:ahLst/>
              <a:cxnLst/>
              <a:rect r="r" b="b" t="t" l="l"/>
              <a:pathLst>
                <a:path h="101727" w="7037959">
                  <a:moveTo>
                    <a:pt x="0" y="0"/>
                  </a:moveTo>
                  <a:lnTo>
                    <a:pt x="7037959" y="0"/>
                  </a:lnTo>
                  <a:lnTo>
                    <a:pt x="7037959" y="101727"/>
                  </a:lnTo>
                  <a:lnTo>
                    <a:pt x="0" y="101727"/>
                  </a:lnTo>
                  <a:close/>
                </a:path>
              </a:pathLst>
            </a:custGeom>
            <a:solidFill>
              <a:srgbClr val="DCE6F8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992991" y="7962605"/>
            <a:ext cx="17230954" cy="40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 b="true">
                <a:solidFill>
                  <a:srgbClr val="DCE6F8"/>
                </a:solidFill>
                <a:latin typeface="Arimo Bold"/>
                <a:ea typeface="Arimo Bold"/>
                <a:cs typeface="Arimo Bold"/>
                <a:sym typeface="Arimo Bold"/>
              </a:rPr>
              <a:t>Technologies Used:</a:t>
            </a:r>
            <a:r>
              <a:rPr lang="en-US" sz="2176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 HTML, CSS, Bootstrap, JavaScript, Python, AWS Services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CE6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9122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991" y="1477680"/>
            <a:ext cx="1397660" cy="431044"/>
            <a:chOff x="0" y="0"/>
            <a:chExt cx="1863547" cy="5747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63598" cy="574802"/>
            </a:xfrm>
            <a:custGeom>
              <a:avLst/>
              <a:gdLst/>
              <a:ahLst/>
              <a:cxnLst/>
              <a:rect r="r" b="b" t="t" l="l"/>
              <a:pathLst>
                <a:path h="574802" w="1863598">
                  <a:moveTo>
                    <a:pt x="0" y="272415"/>
                  </a:moveTo>
                  <a:cubicBezTo>
                    <a:pt x="0" y="121920"/>
                    <a:pt x="121920" y="0"/>
                    <a:pt x="272415" y="0"/>
                  </a:cubicBezTo>
                  <a:lnTo>
                    <a:pt x="1591183" y="0"/>
                  </a:lnTo>
                  <a:cubicBezTo>
                    <a:pt x="1741678" y="0"/>
                    <a:pt x="1863598" y="121920"/>
                    <a:pt x="1863598" y="272415"/>
                  </a:cubicBezTo>
                  <a:lnTo>
                    <a:pt x="1863598" y="302387"/>
                  </a:lnTo>
                  <a:cubicBezTo>
                    <a:pt x="1863598" y="452882"/>
                    <a:pt x="1741678" y="574802"/>
                    <a:pt x="1591183" y="574802"/>
                  </a:cubicBezTo>
                  <a:lnTo>
                    <a:pt x="272415" y="574802"/>
                  </a:lnTo>
                  <a:cubicBezTo>
                    <a:pt x="121920" y="574675"/>
                    <a:pt x="0" y="452755"/>
                    <a:pt x="0" y="302387"/>
                  </a:cubicBezTo>
                  <a:close/>
                </a:path>
              </a:pathLst>
            </a:custGeom>
            <a:solidFill>
              <a:srgbClr val="0B1B42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63231" y="1553204"/>
            <a:ext cx="1972275" cy="270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8"/>
              </a:lnSpc>
            </a:pPr>
            <a:r>
              <a:rPr lang="en-US" sz="1726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PROBLEM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991" y="2003165"/>
            <a:ext cx="16315868" cy="95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95"/>
              </a:lnSpc>
            </a:pPr>
            <a:r>
              <a:rPr lang="en-US" sz="6079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Problem Statement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991" y="3345923"/>
            <a:ext cx="16315868" cy="146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Traditional employee onboarding systems involve significant manual effort and operational inefficiencies that slow down HR processes.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954862" y="5090627"/>
            <a:ext cx="8018669" cy="1452353"/>
          </a:xfrm>
          <a:custGeom>
            <a:avLst/>
            <a:gdLst/>
            <a:ahLst/>
            <a:cxnLst/>
            <a:rect r="r" b="b" t="t" l="l"/>
            <a:pathLst>
              <a:path h="1452353" w="8018669">
                <a:moveTo>
                  <a:pt x="0" y="0"/>
                </a:moveTo>
                <a:lnTo>
                  <a:pt x="8018669" y="0"/>
                </a:lnTo>
                <a:lnTo>
                  <a:pt x="8018669" y="1452353"/>
                </a:lnTo>
                <a:lnTo>
                  <a:pt x="0" y="14523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62" r="0" b="-162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52979" y="5109705"/>
            <a:ext cx="7620552" cy="487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Manual Paperwork &amp; Registration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52979" y="5729183"/>
            <a:ext cx="7620552" cy="775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Time-consuming manual processes for registration and paperwork with increased chances of human error.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9290028" y="5090627"/>
            <a:ext cx="8018821" cy="1452353"/>
          </a:xfrm>
          <a:custGeom>
            <a:avLst/>
            <a:gdLst/>
            <a:ahLst/>
            <a:cxnLst/>
            <a:rect r="r" b="b" t="t" l="l"/>
            <a:pathLst>
              <a:path h="1452353" w="8018821">
                <a:moveTo>
                  <a:pt x="0" y="0"/>
                </a:moveTo>
                <a:lnTo>
                  <a:pt x="8018821" y="0"/>
                </a:lnTo>
                <a:lnTo>
                  <a:pt x="8018821" y="1452353"/>
                </a:lnTo>
                <a:lnTo>
                  <a:pt x="0" y="14523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63" r="0" b="-163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688154" y="5109705"/>
            <a:ext cx="7620705" cy="487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Poor Document Management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88154" y="5729183"/>
            <a:ext cx="7620705" cy="775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Lack of a centralized system for storing and retrieving employee documents securely.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954862" y="7034203"/>
            <a:ext cx="8018669" cy="1821142"/>
          </a:xfrm>
          <a:custGeom>
            <a:avLst/>
            <a:gdLst/>
            <a:ahLst/>
            <a:cxnLst/>
            <a:rect r="r" b="b" t="t" l="l"/>
            <a:pathLst>
              <a:path h="1821142" w="8018669">
                <a:moveTo>
                  <a:pt x="0" y="0"/>
                </a:moveTo>
                <a:lnTo>
                  <a:pt x="8018669" y="0"/>
                </a:lnTo>
                <a:lnTo>
                  <a:pt x="8018669" y="1821142"/>
                </a:lnTo>
                <a:lnTo>
                  <a:pt x="0" y="18211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201" r="0" b="-201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352979" y="7053282"/>
            <a:ext cx="7620552" cy="487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Difficult Progress Tracking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52979" y="7672759"/>
            <a:ext cx="7620552" cy="775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No real-time visibility into onboarding status and progress across the organization.</a:t>
            </a:r>
          </a:p>
        </p:txBody>
      </p:sp>
      <p:sp>
        <p:nvSpPr>
          <p:cNvPr name="Freeform 20" id="20" descr="preencoded.png"/>
          <p:cNvSpPr/>
          <p:nvPr/>
        </p:nvSpPr>
        <p:spPr>
          <a:xfrm flipH="false" flipV="false" rot="0">
            <a:off x="9290028" y="7034203"/>
            <a:ext cx="8018821" cy="1821142"/>
          </a:xfrm>
          <a:custGeom>
            <a:avLst/>
            <a:gdLst/>
            <a:ahLst/>
            <a:cxnLst/>
            <a:rect r="r" b="b" t="t" l="l"/>
            <a:pathLst>
              <a:path h="1821142" w="8018821">
                <a:moveTo>
                  <a:pt x="0" y="0"/>
                </a:moveTo>
                <a:lnTo>
                  <a:pt x="8018821" y="0"/>
                </a:lnTo>
                <a:lnTo>
                  <a:pt x="8018821" y="1821142"/>
                </a:lnTo>
                <a:lnTo>
                  <a:pt x="0" y="182114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202" r="0" b="-202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9688154" y="7053282"/>
            <a:ext cx="7620705" cy="487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Proposed Solution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88154" y="7672759"/>
            <a:ext cx="7620705" cy="1144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Develop a secure cloud-based onboarding system that automates employee management using AWS Serverless services.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CE6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9122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991" y="795509"/>
            <a:ext cx="1253185" cy="315020"/>
            <a:chOff x="0" y="0"/>
            <a:chExt cx="1670914" cy="4200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70812" cy="419862"/>
            </a:xfrm>
            <a:custGeom>
              <a:avLst/>
              <a:gdLst/>
              <a:ahLst/>
              <a:cxnLst/>
              <a:rect r="r" b="b" t="t" l="l"/>
              <a:pathLst>
                <a:path h="419862" w="1670812">
                  <a:moveTo>
                    <a:pt x="0" y="199136"/>
                  </a:moveTo>
                  <a:cubicBezTo>
                    <a:pt x="0" y="89154"/>
                    <a:pt x="89154" y="0"/>
                    <a:pt x="199136" y="0"/>
                  </a:cubicBezTo>
                  <a:lnTo>
                    <a:pt x="1471676" y="0"/>
                  </a:lnTo>
                  <a:cubicBezTo>
                    <a:pt x="1581658" y="0"/>
                    <a:pt x="1670812" y="89154"/>
                    <a:pt x="1670812" y="199136"/>
                  </a:cubicBezTo>
                  <a:lnTo>
                    <a:pt x="1670812" y="220726"/>
                  </a:lnTo>
                  <a:cubicBezTo>
                    <a:pt x="1670812" y="330708"/>
                    <a:pt x="1581658" y="419862"/>
                    <a:pt x="1471676" y="419862"/>
                  </a:cubicBezTo>
                  <a:lnTo>
                    <a:pt x="199136" y="419862"/>
                  </a:lnTo>
                  <a:cubicBezTo>
                    <a:pt x="89154" y="419989"/>
                    <a:pt x="0" y="330835"/>
                    <a:pt x="0" y="220853"/>
                  </a:cubicBezTo>
                  <a:close/>
                </a:path>
              </a:pathLst>
            </a:custGeom>
            <a:solidFill>
              <a:srgbClr val="0B1B42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17349" y="848096"/>
            <a:ext cx="1919545" cy="200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9"/>
              </a:lnSpc>
            </a:pPr>
            <a:r>
              <a:rPr lang="en-US" sz="1275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OBJECTIVES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991" y="1152096"/>
            <a:ext cx="16315868" cy="703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4"/>
              </a:lnSpc>
            </a:pPr>
            <a:r>
              <a:rPr lang="en-US" sz="4428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Project Objectives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991" y="2083432"/>
            <a:ext cx="17230954" cy="233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576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The CloudHR system is designed to achieve the following core objectives for modern HR operations.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808740" y="2487520"/>
            <a:ext cx="14684216" cy="6607921"/>
            <a:chOff x="0" y="0"/>
            <a:chExt cx="19578955" cy="8810562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9578955" cy="8810625"/>
            </a:xfrm>
            <a:custGeom>
              <a:avLst/>
              <a:gdLst/>
              <a:ahLst/>
              <a:cxnLst/>
              <a:rect r="r" b="b" t="t" l="l"/>
              <a:pathLst>
                <a:path h="8810625" w="19578955">
                  <a:moveTo>
                    <a:pt x="0" y="0"/>
                  </a:moveTo>
                  <a:lnTo>
                    <a:pt x="19578955" y="0"/>
                  </a:lnTo>
                  <a:lnTo>
                    <a:pt x="19578955" y="8810625"/>
                  </a:lnTo>
                  <a:lnTo>
                    <a:pt x="0" y="8810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9" r="0" b="-3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4020750" y="2565102"/>
            <a:ext cx="2569683" cy="857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Automate Onboarding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020750" y="3535451"/>
            <a:ext cx="2569683" cy="549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7"/>
              </a:lnSpc>
            </a:pPr>
            <a:r>
              <a:rPr lang="en-US" sz="1951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Streamline new hire setup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62192" y="7521045"/>
            <a:ext cx="2583799" cy="857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Centralized Database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62192" y="8491395"/>
            <a:ext cx="2583799" cy="549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7"/>
              </a:lnSpc>
            </a:pPr>
            <a:r>
              <a:rPr lang="en-US" sz="1951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Maintain employee records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075401" y="2653132"/>
            <a:ext cx="2569683" cy="857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Secure Documents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075401" y="3623481"/>
            <a:ext cx="2569683" cy="274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7"/>
              </a:lnSpc>
            </a:pPr>
            <a:r>
              <a:rPr lang="en-US" sz="1951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Protect sensitive files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616842" y="7730633"/>
            <a:ext cx="2569683" cy="438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Track Progress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616842" y="8281807"/>
            <a:ext cx="2569683" cy="549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7"/>
              </a:lnSpc>
            </a:pPr>
            <a:r>
              <a:rPr lang="en-US" sz="1951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Monitor onboarding status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92991" y="9266139"/>
            <a:ext cx="17230954" cy="233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576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Each objective aligns with the AWS serverless architecture to deliver a scalable, efficient, and secure onboarding experience.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CE6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9122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991" y="869090"/>
            <a:ext cx="1975847" cy="431044"/>
            <a:chOff x="0" y="0"/>
            <a:chExt cx="2634463" cy="5747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34488" cy="574802"/>
            </a:xfrm>
            <a:custGeom>
              <a:avLst/>
              <a:gdLst/>
              <a:ahLst/>
              <a:cxnLst/>
              <a:rect r="r" b="b" t="t" l="l"/>
              <a:pathLst>
                <a:path h="574802" w="2634488">
                  <a:moveTo>
                    <a:pt x="0" y="272415"/>
                  </a:moveTo>
                  <a:cubicBezTo>
                    <a:pt x="0" y="121920"/>
                    <a:pt x="121920" y="0"/>
                    <a:pt x="272415" y="0"/>
                  </a:cubicBezTo>
                  <a:lnTo>
                    <a:pt x="2362073" y="0"/>
                  </a:lnTo>
                  <a:cubicBezTo>
                    <a:pt x="2512568" y="0"/>
                    <a:pt x="2634488" y="121920"/>
                    <a:pt x="2634488" y="272415"/>
                  </a:cubicBezTo>
                  <a:lnTo>
                    <a:pt x="2634488" y="302387"/>
                  </a:lnTo>
                  <a:cubicBezTo>
                    <a:pt x="2634488" y="452882"/>
                    <a:pt x="2512568" y="574802"/>
                    <a:pt x="2362073" y="574802"/>
                  </a:cubicBezTo>
                  <a:lnTo>
                    <a:pt x="272415" y="574802"/>
                  </a:lnTo>
                  <a:cubicBezTo>
                    <a:pt x="121920" y="574675"/>
                    <a:pt x="0" y="452755"/>
                    <a:pt x="0" y="302387"/>
                  </a:cubicBezTo>
                  <a:close/>
                </a:path>
              </a:pathLst>
            </a:custGeom>
            <a:solidFill>
              <a:srgbClr val="0B1B42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63231" y="944613"/>
            <a:ext cx="2550462" cy="270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8"/>
              </a:lnSpc>
            </a:pPr>
            <a:r>
              <a:rPr lang="en-US" sz="1726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AWS SERVICES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991" y="1394584"/>
            <a:ext cx="16315868" cy="95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95"/>
              </a:lnSpc>
            </a:pPr>
            <a:r>
              <a:rPr lang="en-US" sz="6079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AWS Services Used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88219" y="2770661"/>
            <a:ext cx="16325393" cy="6659899"/>
            <a:chOff x="0" y="0"/>
            <a:chExt cx="21767190" cy="887986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767164" cy="8879840"/>
            </a:xfrm>
            <a:custGeom>
              <a:avLst/>
              <a:gdLst/>
              <a:ahLst/>
              <a:cxnLst/>
              <a:rect r="r" b="b" t="t" l="l"/>
              <a:pathLst>
                <a:path h="8879840" w="21767164">
                  <a:moveTo>
                    <a:pt x="0" y="340995"/>
                  </a:moveTo>
                  <a:cubicBezTo>
                    <a:pt x="0" y="152654"/>
                    <a:pt x="152654" y="0"/>
                    <a:pt x="340995" y="0"/>
                  </a:cubicBezTo>
                  <a:lnTo>
                    <a:pt x="21426170" y="0"/>
                  </a:lnTo>
                  <a:cubicBezTo>
                    <a:pt x="21614510" y="0"/>
                    <a:pt x="21767164" y="152654"/>
                    <a:pt x="21767164" y="340995"/>
                  </a:cubicBezTo>
                  <a:lnTo>
                    <a:pt x="21767164" y="8538845"/>
                  </a:lnTo>
                  <a:cubicBezTo>
                    <a:pt x="21767164" y="8727186"/>
                    <a:pt x="21614510" y="8879840"/>
                    <a:pt x="21426170" y="8879840"/>
                  </a:cubicBezTo>
                  <a:lnTo>
                    <a:pt x="340995" y="8879840"/>
                  </a:lnTo>
                  <a:cubicBezTo>
                    <a:pt x="152654" y="8879840"/>
                    <a:pt x="0" y="8727186"/>
                    <a:pt x="0" y="8538845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41" t="0" r="-2341" b="0"/>
              </a:stretch>
            </a:blipFill>
            <a:ln w="9532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92991" y="3518068"/>
            <a:ext cx="16315868" cy="17736"/>
            <a:chOff x="0" y="0"/>
            <a:chExt cx="21754490" cy="2364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754464" cy="23622"/>
            </a:xfrm>
            <a:custGeom>
              <a:avLst/>
              <a:gdLst/>
              <a:ahLst/>
              <a:cxnLst/>
              <a:rect r="r" b="b" t="t" l="l"/>
              <a:pathLst>
                <a:path h="23622" w="21754464">
                  <a:moveTo>
                    <a:pt x="0" y="0"/>
                  </a:moveTo>
                  <a:lnTo>
                    <a:pt x="21754464" y="0"/>
                  </a:lnTo>
                  <a:lnTo>
                    <a:pt x="21754464" y="23622"/>
                  </a:lnTo>
                  <a:lnTo>
                    <a:pt x="0" y="23622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92991" y="4255941"/>
            <a:ext cx="16315868" cy="17736"/>
            <a:chOff x="0" y="0"/>
            <a:chExt cx="21754490" cy="2364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754464" cy="23622"/>
            </a:xfrm>
            <a:custGeom>
              <a:avLst/>
              <a:gdLst/>
              <a:ahLst/>
              <a:cxnLst/>
              <a:rect r="r" b="b" t="t" l="l"/>
              <a:pathLst>
                <a:path h="23622" w="21754464">
                  <a:moveTo>
                    <a:pt x="0" y="0"/>
                  </a:moveTo>
                  <a:lnTo>
                    <a:pt x="21754464" y="0"/>
                  </a:lnTo>
                  <a:lnTo>
                    <a:pt x="21754464" y="23622"/>
                  </a:lnTo>
                  <a:lnTo>
                    <a:pt x="0" y="23622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92991" y="4993815"/>
            <a:ext cx="16315868" cy="17736"/>
            <a:chOff x="0" y="0"/>
            <a:chExt cx="21754490" cy="2364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754464" cy="23622"/>
            </a:xfrm>
            <a:custGeom>
              <a:avLst/>
              <a:gdLst/>
              <a:ahLst/>
              <a:cxnLst/>
              <a:rect r="r" b="b" t="t" l="l"/>
              <a:pathLst>
                <a:path h="23622" w="21754464">
                  <a:moveTo>
                    <a:pt x="0" y="0"/>
                  </a:moveTo>
                  <a:lnTo>
                    <a:pt x="21754464" y="0"/>
                  </a:lnTo>
                  <a:lnTo>
                    <a:pt x="21754464" y="23622"/>
                  </a:lnTo>
                  <a:lnTo>
                    <a:pt x="0" y="23622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92991" y="5731678"/>
            <a:ext cx="16315868" cy="17736"/>
            <a:chOff x="0" y="0"/>
            <a:chExt cx="21754490" cy="2364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754464" cy="23622"/>
            </a:xfrm>
            <a:custGeom>
              <a:avLst/>
              <a:gdLst/>
              <a:ahLst/>
              <a:cxnLst/>
              <a:rect r="r" b="b" t="t" l="l"/>
              <a:pathLst>
                <a:path h="23622" w="21754464">
                  <a:moveTo>
                    <a:pt x="0" y="0"/>
                  </a:moveTo>
                  <a:lnTo>
                    <a:pt x="21754464" y="0"/>
                  </a:lnTo>
                  <a:lnTo>
                    <a:pt x="21754464" y="23622"/>
                  </a:lnTo>
                  <a:lnTo>
                    <a:pt x="0" y="23622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2991" y="6469551"/>
            <a:ext cx="16315868" cy="17736"/>
            <a:chOff x="0" y="0"/>
            <a:chExt cx="21754490" cy="2364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754464" cy="23622"/>
            </a:xfrm>
            <a:custGeom>
              <a:avLst/>
              <a:gdLst/>
              <a:ahLst/>
              <a:cxnLst/>
              <a:rect r="r" b="b" t="t" l="l"/>
              <a:pathLst>
                <a:path h="23622" w="21754464">
                  <a:moveTo>
                    <a:pt x="0" y="0"/>
                  </a:moveTo>
                  <a:lnTo>
                    <a:pt x="21754464" y="0"/>
                  </a:lnTo>
                  <a:lnTo>
                    <a:pt x="21754464" y="23622"/>
                  </a:lnTo>
                  <a:lnTo>
                    <a:pt x="0" y="23622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92991" y="7207425"/>
            <a:ext cx="16315868" cy="17736"/>
            <a:chOff x="0" y="0"/>
            <a:chExt cx="21754490" cy="2364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754464" cy="23622"/>
            </a:xfrm>
            <a:custGeom>
              <a:avLst/>
              <a:gdLst/>
              <a:ahLst/>
              <a:cxnLst/>
              <a:rect r="r" b="b" t="t" l="l"/>
              <a:pathLst>
                <a:path h="23622" w="21754464">
                  <a:moveTo>
                    <a:pt x="0" y="0"/>
                  </a:moveTo>
                  <a:lnTo>
                    <a:pt x="21754464" y="0"/>
                  </a:lnTo>
                  <a:lnTo>
                    <a:pt x="21754464" y="23622"/>
                  </a:lnTo>
                  <a:lnTo>
                    <a:pt x="0" y="23622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92991" y="7945298"/>
            <a:ext cx="16315868" cy="17736"/>
            <a:chOff x="0" y="0"/>
            <a:chExt cx="21754490" cy="2364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754464" cy="23622"/>
            </a:xfrm>
            <a:custGeom>
              <a:avLst/>
              <a:gdLst/>
              <a:ahLst/>
              <a:cxnLst/>
              <a:rect r="r" b="b" t="t" l="l"/>
              <a:pathLst>
                <a:path h="23622" w="21754464">
                  <a:moveTo>
                    <a:pt x="0" y="0"/>
                  </a:moveTo>
                  <a:lnTo>
                    <a:pt x="21754464" y="0"/>
                  </a:lnTo>
                  <a:lnTo>
                    <a:pt x="21754464" y="23622"/>
                  </a:lnTo>
                  <a:lnTo>
                    <a:pt x="0" y="23622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92991" y="8683171"/>
            <a:ext cx="16315868" cy="17736"/>
            <a:chOff x="0" y="0"/>
            <a:chExt cx="21754490" cy="2364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754464" cy="23622"/>
            </a:xfrm>
            <a:custGeom>
              <a:avLst/>
              <a:gdLst/>
              <a:ahLst/>
              <a:cxnLst/>
              <a:rect r="r" b="b" t="t" l="l"/>
              <a:pathLst>
                <a:path h="23622" w="21754464">
                  <a:moveTo>
                    <a:pt x="0" y="0"/>
                  </a:moveTo>
                  <a:lnTo>
                    <a:pt x="21754464" y="0"/>
                  </a:lnTo>
                  <a:lnTo>
                    <a:pt x="21754464" y="23622"/>
                  </a:lnTo>
                  <a:lnTo>
                    <a:pt x="0" y="23622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286399" y="2926642"/>
            <a:ext cx="6051461" cy="40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 b="true">
                <a:solidFill>
                  <a:srgbClr val="DCE6F8"/>
                </a:solidFill>
                <a:latin typeface="Arimo Bold"/>
                <a:ea typeface="Arimo Bold"/>
                <a:cs typeface="Arimo Bold"/>
                <a:sym typeface="Arimo Bold"/>
              </a:rPr>
              <a:t>AWS Service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990236" y="2926642"/>
            <a:ext cx="10940444" cy="40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 b="true">
                <a:solidFill>
                  <a:srgbClr val="DCE6F8"/>
                </a:solidFill>
                <a:latin typeface="Arimo Bold"/>
                <a:ea typeface="Arimo Bold"/>
                <a:cs typeface="Arimo Bold"/>
                <a:sym typeface="Arimo Bold"/>
              </a:rPr>
              <a:t>Purpose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86399" y="3664515"/>
            <a:ext cx="6051461" cy="40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Amazon S3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990236" y="3664515"/>
            <a:ext cx="10940444" cy="40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Static website hosting &amp; document storage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86399" y="4402379"/>
            <a:ext cx="6051461" cy="40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Amazon CloudFront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990236" y="4402379"/>
            <a:ext cx="10940444" cy="40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Fast content delivery &amp; HTTPS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86399" y="5140252"/>
            <a:ext cx="6051461" cy="40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Amazon API Gateway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990236" y="5140252"/>
            <a:ext cx="10940444" cy="40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REST API management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86399" y="5878125"/>
            <a:ext cx="6051461" cy="40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AWS Lambda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990236" y="5878125"/>
            <a:ext cx="10940444" cy="40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Backend business logic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86399" y="6615998"/>
            <a:ext cx="6051461" cy="40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Amazon DynamoDB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990236" y="6615998"/>
            <a:ext cx="10940444" cy="40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Employee &amp; HR database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86399" y="7353862"/>
            <a:ext cx="6051461" cy="40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Amazon SES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990236" y="7353862"/>
            <a:ext cx="10940444" cy="40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Automated email notifications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86399" y="8091735"/>
            <a:ext cx="6051461" cy="40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AWS IAM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990236" y="8091735"/>
            <a:ext cx="10940444" cy="40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User roles &amp; permissions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86399" y="8829608"/>
            <a:ext cx="6051461" cy="40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Amazon CloudWatch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990236" y="8829608"/>
            <a:ext cx="10940444" cy="40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Monitoring &amp; application logs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CE6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9122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991" y="888902"/>
            <a:ext cx="1333767" cy="280168"/>
            <a:chOff x="0" y="0"/>
            <a:chExt cx="1778356" cy="3735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78381" cy="373507"/>
            </a:xfrm>
            <a:custGeom>
              <a:avLst/>
              <a:gdLst/>
              <a:ahLst/>
              <a:cxnLst/>
              <a:rect r="r" b="b" t="t" l="l"/>
              <a:pathLst>
                <a:path h="373507" w="1778381">
                  <a:moveTo>
                    <a:pt x="0" y="177038"/>
                  </a:moveTo>
                  <a:cubicBezTo>
                    <a:pt x="0" y="79248"/>
                    <a:pt x="79248" y="0"/>
                    <a:pt x="177038" y="0"/>
                  </a:cubicBezTo>
                  <a:lnTo>
                    <a:pt x="1601343" y="0"/>
                  </a:lnTo>
                  <a:cubicBezTo>
                    <a:pt x="1699133" y="0"/>
                    <a:pt x="1778381" y="79248"/>
                    <a:pt x="1778381" y="177038"/>
                  </a:cubicBezTo>
                  <a:lnTo>
                    <a:pt x="1778381" y="196469"/>
                  </a:lnTo>
                  <a:cubicBezTo>
                    <a:pt x="1778381" y="294259"/>
                    <a:pt x="1699133" y="373507"/>
                    <a:pt x="1601343" y="373507"/>
                  </a:cubicBezTo>
                  <a:lnTo>
                    <a:pt x="177038" y="373507"/>
                  </a:lnTo>
                  <a:cubicBezTo>
                    <a:pt x="79248" y="373507"/>
                    <a:pt x="0" y="294259"/>
                    <a:pt x="0" y="196469"/>
                  </a:cubicBezTo>
                  <a:close/>
                </a:path>
              </a:pathLst>
            </a:custGeom>
            <a:solidFill>
              <a:srgbClr val="0B1B42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03500" y="944156"/>
            <a:ext cx="2027825" cy="16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7"/>
              </a:lnSpc>
            </a:pPr>
            <a:r>
              <a:rPr lang="en-US" sz="1125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ARCHITECTURE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991" y="1197826"/>
            <a:ext cx="16315868" cy="627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73"/>
              </a:lnSpc>
            </a:pPr>
            <a:r>
              <a:rPr lang="en-US" sz="3978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AWS Architecture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991" y="2005241"/>
            <a:ext cx="17230954" cy="197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3"/>
              </a:lnSpc>
            </a:pPr>
            <a:r>
              <a:rPr lang="en-US" sz="1426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This system is built on a fully serverless AWS architecture, ensuring scalability, high availability, and minimal operational overhead.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92991" y="2337683"/>
            <a:ext cx="10602201" cy="7068312"/>
            <a:chOff x="0" y="0"/>
            <a:chExt cx="14136268" cy="9424416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4136243" cy="9424416"/>
            </a:xfrm>
            <a:custGeom>
              <a:avLst/>
              <a:gdLst/>
              <a:ahLst/>
              <a:cxnLst/>
              <a:rect r="r" b="b" t="t" l="l"/>
              <a:pathLst>
                <a:path h="9424416" w="14136243">
                  <a:moveTo>
                    <a:pt x="0" y="0"/>
                  </a:moveTo>
                  <a:lnTo>
                    <a:pt x="14136243" y="0"/>
                  </a:lnTo>
                  <a:lnTo>
                    <a:pt x="14136243" y="9424416"/>
                  </a:lnTo>
                  <a:lnTo>
                    <a:pt x="0" y="9424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CE6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9122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991" y="792537"/>
            <a:ext cx="1197635" cy="313525"/>
            <a:chOff x="0" y="0"/>
            <a:chExt cx="1596847" cy="4180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96771" cy="417957"/>
            </a:xfrm>
            <a:custGeom>
              <a:avLst/>
              <a:gdLst/>
              <a:ahLst/>
              <a:cxnLst/>
              <a:rect r="r" b="b" t="t" l="l"/>
              <a:pathLst>
                <a:path h="417957" w="1596771">
                  <a:moveTo>
                    <a:pt x="0" y="198120"/>
                  </a:moveTo>
                  <a:cubicBezTo>
                    <a:pt x="0" y="88646"/>
                    <a:pt x="88646" y="0"/>
                    <a:pt x="198120" y="0"/>
                  </a:cubicBezTo>
                  <a:lnTo>
                    <a:pt x="1398651" y="0"/>
                  </a:lnTo>
                  <a:cubicBezTo>
                    <a:pt x="1508125" y="0"/>
                    <a:pt x="1596771" y="88646"/>
                    <a:pt x="1596771" y="198120"/>
                  </a:cubicBezTo>
                  <a:lnTo>
                    <a:pt x="1596771" y="219837"/>
                  </a:lnTo>
                  <a:cubicBezTo>
                    <a:pt x="1596771" y="329311"/>
                    <a:pt x="1508125" y="417957"/>
                    <a:pt x="1398651" y="417957"/>
                  </a:cubicBezTo>
                  <a:lnTo>
                    <a:pt x="198120" y="417957"/>
                  </a:lnTo>
                  <a:cubicBezTo>
                    <a:pt x="88646" y="418084"/>
                    <a:pt x="0" y="329311"/>
                    <a:pt x="0" y="219964"/>
                  </a:cubicBezTo>
                  <a:close/>
                </a:path>
              </a:pathLst>
            </a:custGeom>
            <a:solidFill>
              <a:srgbClr val="0B1B42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16759" y="844820"/>
            <a:ext cx="1865186" cy="19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9"/>
              </a:lnSpc>
            </a:pPr>
            <a:r>
              <a:rPr lang="en-US" sz="1275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WORKFLOW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991" y="1147039"/>
            <a:ext cx="16315868" cy="700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4"/>
              </a:lnSpc>
            </a:pPr>
            <a:r>
              <a:rPr lang="en-US" sz="4428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Project Workflow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991" y="2072269"/>
            <a:ext cx="17230954" cy="231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576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The end-to-end onboarding workflow follows a structured sequence from HR login to automated email delivery, ensuring a streamlined and centralized process.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464688" y="2472776"/>
            <a:ext cx="15372321" cy="6629076"/>
            <a:chOff x="0" y="0"/>
            <a:chExt cx="20496428" cy="8838768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20496403" cy="8838819"/>
            </a:xfrm>
            <a:custGeom>
              <a:avLst/>
              <a:gdLst/>
              <a:ahLst/>
              <a:cxnLst/>
              <a:rect r="r" b="b" t="t" l="l"/>
              <a:pathLst>
                <a:path h="8838819" w="20496403">
                  <a:moveTo>
                    <a:pt x="0" y="0"/>
                  </a:moveTo>
                  <a:lnTo>
                    <a:pt x="20496403" y="0"/>
                  </a:lnTo>
                  <a:lnTo>
                    <a:pt x="20496403" y="8838819"/>
                  </a:lnTo>
                  <a:lnTo>
                    <a:pt x="0" y="8838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0" r="0" b="-29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499074" y="7813567"/>
            <a:ext cx="3836213" cy="479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Store Data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99074" y="6279042"/>
            <a:ext cx="3836213" cy="479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Add Employee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499074" y="4760024"/>
            <a:ext cx="3836213" cy="479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Dashboard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499074" y="3225498"/>
            <a:ext cx="3836213" cy="479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HR Login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2991" y="9270606"/>
            <a:ext cx="17230954" cy="231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576" b="true">
                <a:solidFill>
                  <a:srgbClr val="DCE6F8"/>
                </a:solidFill>
                <a:latin typeface="Arimo Bold"/>
                <a:ea typeface="Arimo Bold"/>
                <a:cs typeface="Arimo Bold"/>
                <a:sym typeface="Arimo Bold"/>
              </a:rPr>
              <a:t>Outcome:</a:t>
            </a:r>
            <a:r>
              <a:rPr lang="en-US" sz="1576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 A streamlined and automated onboarding process with centralized data management.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CE6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9122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991" y="948185"/>
            <a:ext cx="1194502" cy="366255"/>
            <a:chOff x="0" y="0"/>
            <a:chExt cx="1592669" cy="4883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92580" cy="488315"/>
            </a:xfrm>
            <a:custGeom>
              <a:avLst/>
              <a:gdLst/>
              <a:ahLst/>
              <a:cxnLst/>
              <a:rect r="r" b="b" t="t" l="l"/>
              <a:pathLst>
                <a:path h="488315" w="1592580">
                  <a:moveTo>
                    <a:pt x="0" y="231521"/>
                  </a:moveTo>
                  <a:cubicBezTo>
                    <a:pt x="0" y="103632"/>
                    <a:pt x="103632" y="0"/>
                    <a:pt x="231521" y="0"/>
                  </a:cubicBezTo>
                  <a:lnTo>
                    <a:pt x="1361059" y="0"/>
                  </a:lnTo>
                  <a:cubicBezTo>
                    <a:pt x="1488948" y="0"/>
                    <a:pt x="1592580" y="103632"/>
                    <a:pt x="1592580" y="231521"/>
                  </a:cubicBezTo>
                  <a:lnTo>
                    <a:pt x="1592580" y="256794"/>
                  </a:lnTo>
                  <a:cubicBezTo>
                    <a:pt x="1592580" y="384683"/>
                    <a:pt x="1488948" y="488315"/>
                    <a:pt x="1361059" y="488315"/>
                  </a:cubicBezTo>
                  <a:lnTo>
                    <a:pt x="231521" y="488315"/>
                  </a:lnTo>
                  <a:cubicBezTo>
                    <a:pt x="103632" y="488315"/>
                    <a:pt x="0" y="384683"/>
                    <a:pt x="0" y="256794"/>
                  </a:cubicBezTo>
                  <a:close/>
                </a:path>
              </a:pathLst>
            </a:custGeom>
            <a:solidFill>
              <a:srgbClr val="0B1B42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37609" y="1010898"/>
            <a:ext cx="1820351" cy="231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9"/>
              </a:lnSpc>
            </a:pPr>
            <a:r>
              <a:rPr lang="en-US" sz="1501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BENEFITS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991" y="1358255"/>
            <a:ext cx="16315868" cy="833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14"/>
              </a:lnSpc>
            </a:pPr>
            <a:r>
              <a:rPr lang="en-US" sz="5179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Benefits &amp; Expected Outcomes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991" y="3215421"/>
            <a:ext cx="7863773" cy="407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Benefits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991" y="4142299"/>
            <a:ext cx="7863773" cy="407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Efficiency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991" y="4726181"/>
            <a:ext cx="7863773" cy="608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Reduces manual paperwork and automates the entire employee onboarding process.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64387" y="3853491"/>
            <a:ext cx="7920971" cy="57198"/>
            <a:chOff x="0" y="0"/>
            <a:chExt cx="10561295" cy="7626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561320" cy="76200"/>
            </a:xfrm>
            <a:custGeom>
              <a:avLst/>
              <a:gdLst/>
              <a:ahLst/>
              <a:cxnLst/>
              <a:rect r="r" b="b" t="t" l="l"/>
              <a:pathLst>
                <a:path h="76200" w="10561320">
                  <a:moveTo>
                    <a:pt x="0" y="0"/>
                  </a:moveTo>
                  <a:lnTo>
                    <a:pt x="10561320" y="0"/>
                  </a:lnTo>
                  <a:lnTo>
                    <a:pt x="1056132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DCE6F8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92991" y="6033154"/>
            <a:ext cx="7863773" cy="407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Security &amp; Centralization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2991" y="6617027"/>
            <a:ext cx="7863773" cy="608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Secure cloud storage for documents with centralized employee information.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64387" y="5744347"/>
            <a:ext cx="7920971" cy="57198"/>
            <a:chOff x="0" y="0"/>
            <a:chExt cx="10561295" cy="762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561320" cy="76200"/>
            </a:xfrm>
            <a:custGeom>
              <a:avLst/>
              <a:gdLst/>
              <a:ahLst/>
              <a:cxnLst/>
              <a:rect r="r" b="b" t="t" l="l"/>
              <a:pathLst>
                <a:path h="76200" w="10561320">
                  <a:moveTo>
                    <a:pt x="0" y="0"/>
                  </a:moveTo>
                  <a:lnTo>
                    <a:pt x="10561320" y="0"/>
                  </a:lnTo>
                  <a:lnTo>
                    <a:pt x="1056132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8FADEB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92991" y="7924000"/>
            <a:ext cx="7863773" cy="407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Scalability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92991" y="8507882"/>
            <a:ext cx="7863773" cy="608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Real-time progress tracking and scalable, cost-effective serverless architecture.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64387" y="7635192"/>
            <a:ext cx="7920971" cy="57198"/>
            <a:chOff x="0" y="0"/>
            <a:chExt cx="10561295" cy="7626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561320" cy="76200"/>
            </a:xfrm>
            <a:custGeom>
              <a:avLst/>
              <a:gdLst/>
              <a:ahLst/>
              <a:cxnLst/>
              <a:rect r="r" b="b" t="t" l="l"/>
              <a:pathLst>
                <a:path h="76200" w="10561320">
                  <a:moveTo>
                    <a:pt x="0" y="0"/>
                  </a:moveTo>
                  <a:lnTo>
                    <a:pt x="10561320" y="0"/>
                  </a:lnTo>
                  <a:lnTo>
                    <a:pt x="1056132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4674E1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9454610" y="3215421"/>
            <a:ext cx="7863773" cy="407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Expected Outcomes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454610" y="3799294"/>
            <a:ext cx="7863773" cy="1764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859" indent="-169929" lvl="1">
              <a:lnSpc>
                <a:spcPts val="2251"/>
              </a:lnSpc>
              <a:buFont typeface="Arial"/>
              <a:buChar char="•"/>
            </a:pPr>
            <a:r>
              <a:rPr lang="en-US" sz="1876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Faster onboarding process</a:t>
            </a:r>
          </a:p>
          <a:p>
            <a:pPr algn="l" marL="339859" indent="-169929" lvl="1">
              <a:lnSpc>
                <a:spcPts val="2251"/>
              </a:lnSpc>
              <a:buFont typeface="Arial"/>
              <a:buChar char="•"/>
            </a:pPr>
            <a:r>
              <a:rPr lang="en-US" sz="1876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Reduced administrative workload</a:t>
            </a:r>
          </a:p>
          <a:p>
            <a:pPr algn="l" marL="339859" indent="-169929" lvl="1">
              <a:lnSpc>
                <a:spcPts val="2251"/>
              </a:lnSpc>
              <a:buFont typeface="Arial"/>
              <a:buChar char="•"/>
            </a:pPr>
            <a:r>
              <a:rPr lang="en-US" sz="1876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Improved data security</a:t>
            </a:r>
          </a:p>
          <a:p>
            <a:pPr algn="l" marL="339859" indent="-169929" lvl="1">
              <a:lnSpc>
                <a:spcPts val="2251"/>
              </a:lnSpc>
              <a:buFont typeface="Arial"/>
              <a:buChar char="•"/>
            </a:pPr>
            <a:r>
              <a:rPr lang="en-US" sz="1876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Enhanced employee experience</a:t>
            </a:r>
          </a:p>
          <a:p>
            <a:pPr algn="l" marL="339859" indent="-169929" lvl="1">
              <a:lnSpc>
                <a:spcPts val="2251"/>
              </a:lnSpc>
              <a:buFont typeface="Arial"/>
              <a:buChar char="•"/>
            </a:pPr>
            <a:r>
              <a:rPr lang="en-US" sz="1876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Easy maintenance and future scalability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CE6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9122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991" y="1236688"/>
            <a:ext cx="1826162" cy="431044"/>
            <a:chOff x="0" y="0"/>
            <a:chExt cx="2434882" cy="5747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4844" cy="574802"/>
            </a:xfrm>
            <a:custGeom>
              <a:avLst/>
              <a:gdLst/>
              <a:ahLst/>
              <a:cxnLst/>
              <a:rect r="r" b="b" t="t" l="l"/>
              <a:pathLst>
                <a:path h="574802" w="2434844">
                  <a:moveTo>
                    <a:pt x="0" y="272415"/>
                  </a:moveTo>
                  <a:cubicBezTo>
                    <a:pt x="0" y="121920"/>
                    <a:pt x="121920" y="0"/>
                    <a:pt x="272415" y="0"/>
                  </a:cubicBezTo>
                  <a:lnTo>
                    <a:pt x="2162429" y="0"/>
                  </a:lnTo>
                  <a:cubicBezTo>
                    <a:pt x="2312924" y="0"/>
                    <a:pt x="2434844" y="121920"/>
                    <a:pt x="2434844" y="272415"/>
                  </a:cubicBezTo>
                  <a:lnTo>
                    <a:pt x="2434844" y="302387"/>
                  </a:lnTo>
                  <a:cubicBezTo>
                    <a:pt x="2434844" y="452882"/>
                    <a:pt x="2312924" y="574802"/>
                    <a:pt x="2162429" y="574802"/>
                  </a:cubicBezTo>
                  <a:lnTo>
                    <a:pt x="272415" y="574802"/>
                  </a:lnTo>
                  <a:cubicBezTo>
                    <a:pt x="121920" y="574675"/>
                    <a:pt x="0" y="452755"/>
                    <a:pt x="0" y="30238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63231" y="1312212"/>
            <a:ext cx="2400776" cy="270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8"/>
              </a:lnSpc>
            </a:pPr>
            <a:r>
              <a:rPr lang="en-US" sz="172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CONCLUSION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991" y="1762173"/>
            <a:ext cx="16315868" cy="95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95"/>
              </a:lnSpc>
            </a:pPr>
            <a:r>
              <a:rPr lang="en-US" sz="6079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Future Enhancements &amp; Conclusion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991" y="3104931"/>
            <a:ext cx="16315868" cy="146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CloudHR successfully automates the onboarding process using AWS serverless services, improving efficiency, security, and scalability for modern HR management.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954862" y="4849635"/>
            <a:ext cx="5240331" cy="1821142"/>
          </a:xfrm>
          <a:custGeom>
            <a:avLst/>
            <a:gdLst/>
            <a:ahLst/>
            <a:cxnLst/>
            <a:rect r="r" b="b" t="t" l="l"/>
            <a:pathLst>
              <a:path h="1821142" w="5240331">
                <a:moveTo>
                  <a:pt x="0" y="0"/>
                </a:moveTo>
                <a:lnTo>
                  <a:pt x="5240331" y="0"/>
                </a:lnTo>
                <a:lnTo>
                  <a:pt x="5240331" y="1821142"/>
                </a:lnTo>
                <a:lnTo>
                  <a:pt x="0" y="18211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395" r="0" b="-395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52979" y="4868713"/>
            <a:ext cx="4842215" cy="487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Self-Service &amp; Mobile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52979" y="5488191"/>
            <a:ext cx="4842215" cy="775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Employee Self-Service Portal and Mobile Application (Android &amp; iOS)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6511690" y="4849635"/>
            <a:ext cx="5240331" cy="1821142"/>
          </a:xfrm>
          <a:custGeom>
            <a:avLst/>
            <a:gdLst/>
            <a:ahLst/>
            <a:cxnLst/>
            <a:rect r="r" b="b" t="t" l="l"/>
            <a:pathLst>
              <a:path h="1821142" w="5240331">
                <a:moveTo>
                  <a:pt x="0" y="0"/>
                </a:moveTo>
                <a:lnTo>
                  <a:pt x="5240331" y="0"/>
                </a:lnTo>
                <a:lnTo>
                  <a:pt x="5240331" y="1821142"/>
                </a:lnTo>
                <a:lnTo>
                  <a:pt x="0" y="18211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395" r="0" b="-395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909806" y="4868713"/>
            <a:ext cx="4842215" cy="487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Integrations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909806" y="5488191"/>
            <a:ext cx="4842215" cy="775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Payroll System Integration and Attendance Management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12068518" y="4849635"/>
            <a:ext cx="5240331" cy="1821142"/>
          </a:xfrm>
          <a:custGeom>
            <a:avLst/>
            <a:gdLst/>
            <a:ahLst/>
            <a:cxnLst/>
            <a:rect r="r" b="b" t="t" l="l"/>
            <a:pathLst>
              <a:path h="1821142" w="5240331">
                <a:moveTo>
                  <a:pt x="0" y="0"/>
                </a:moveTo>
                <a:lnTo>
                  <a:pt x="5240331" y="0"/>
                </a:lnTo>
                <a:lnTo>
                  <a:pt x="5240331" y="1821142"/>
                </a:lnTo>
                <a:lnTo>
                  <a:pt x="0" y="18211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395" r="0" b="-395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2466644" y="4868713"/>
            <a:ext cx="4842215" cy="487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AI &amp; Analytics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466644" y="5488191"/>
            <a:ext cx="4842215" cy="1144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AI Chatbot for HR Support and Analytics Dashboard using Amazon QuickSight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92991" y="7639812"/>
            <a:ext cx="16315868" cy="1418396"/>
            <a:chOff x="0" y="0"/>
            <a:chExt cx="21754490" cy="189119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754466" cy="1891157"/>
            </a:xfrm>
            <a:custGeom>
              <a:avLst/>
              <a:gdLst/>
              <a:ahLst/>
              <a:cxnLst/>
              <a:rect r="r" b="b" t="t" l="l"/>
              <a:pathLst>
                <a:path h="1891157" w="21754466">
                  <a:moveTo>
                    <a:pt x="0" y="340487"/>
                  </a:moveTo>
                  <a:cubicBezTo>
                    <a:pt x="0" y="152400"/>
                    <a:pt x="152400" y="0"/>
                    <a:pt x="340487" y="0"/>
                  </a:cubicBezTo>
                  <a:lnTo>
                    <a:pt x="21413978" y="0"/>
                  </a:lnTo>
                  <a:cubicBezTo>
                    <a:pt x="21602066" y="0"/>
                    <a:pt x="21754466" y="152400"/>
                    <a:pt x="21754466" y="340487"/>
                  </a:cubicBezTo>
                  <a:lnTo>
                    <a:pt x="21754466" y="1550670"/>
                  </a:lnTo>
                  <a:cubicBezTo>
                    <a:pt x="21754466" y="1738757"/>
                    <a:pt x="21602066" y="1891157"/>
                    <a:pt x="21413978" y="1891157"/>
                  </a:cubicBezTo>
                  <a:lnTo>
                    <a:pt x="340487" y="1891157"/>
                  </a:lnTo>
                  <a:cubicBezTo>
                    <a:pt x="152400" y="1891157"/>
                    <a:pt x="0" y="1738757"/>
                    <a:pt x="0" y="1550670"/>
                  </a:cubicBezTo>
                  <a:close/>
                </a:path>
              </a:pathLst>
            </a:custGeom>
            <a:solidFill>
              <a:srgbClr val="203876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76721" y="7956347"/>
            <a:ext cx="15748397" cy="775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 i="true">
                <a:solidFill>
                  <a:srgbClr val="FFFFFF"/>
                </a:solidFill>
                <a:latin typeface="Arimo Italics"/>
                <a:ea typeface="Arimo Italics"/>
                <a:cs typeface="Arimo Italics"/>
                <a:sym typeface="Arimo Italics"/>
              </a:rPr>
              <a:t>The CloudHR system demonstrates the effectiveness of cloud technologies in modern HR management — scalable, secure, and serverless. Thank you! Questions &amp; Answers.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DAHPOzqObUg</dc:identifier>
  <dcterms:modified xsi:type="dcterms:W3CDTF">2011-08-01T06:04:30Z</dcterms:modified>
  <cp:revision>1</cp:revision>
  <dc:title>AWS-Employee-Onboarding-Management-System.pptx</dc:title>
</cp:coreProperties>
</file>